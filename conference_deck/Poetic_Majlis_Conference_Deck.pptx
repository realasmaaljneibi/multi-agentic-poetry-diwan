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Read the hook line aloud. The whole pitch is in that one sentence: the system critiques but never impersonates. Pause for two beats before clicking through. Do NOT mention how quickly the software was built — the work here is the curation and the ethical design, and that took months of hand work and expert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anchor slide. Open with the headline as a story: Nabati poetry is one of the oldest LIVING oral traditions in the Gulf, and it is at risk of disappearing. That sentence is the reason this project exists — lead with mission, not technology. The three cards are the three faces of the risk. Land on the crimson belt: listening, weighing, teaching — never replacing.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Council slide. Each Critic appears as a distinct cultural figure with their own school's evaluative dimensions. The dark belt previews the integrity claim — the next slides give it its own stage. Keep this slide brisk; the live debate is what you want time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centerpiece. If the room remembers one slide, make it this one. A real verse from the corpus (with provenance) is submitted, and three distinct critical voices weigh in with different emphases — meter and diction, truth of feeling, cohesion with the community. The sample verdict lines are illustrative of system output — say so if asked. If a live demo is possible, run it here. Close on the belt: this is the experience; everything else is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impersonation slide — the first half of the moral spine. Most persona AI products recklessly 'become' historical figures. The Majlis refuses that line by design: Critics speak ABOUT poets, never AS them, always from documented school principles, always third person. Read the closing line aloud. This is the slide that earns trust from cultural institutions.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fabrication slide — second half of the moral spine. Any expert in the room will be quietly worried about exactly this; answer the worry before it is asked. The headline is the promise; the three cards are the supporting guarantees (traceable, labelled, private). The belt is the line to quote: if a verse appears in the Majlis, it existed before the Majlis.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corpus slide. This is where the real labor lives — months of hand curation, translation, provenance tracking, and conversations with heritage experts. NEVER frame this project by how fast the software came together; frame it by the corpus and the consultations. If asked about effort, talk about verse-by-verse verification, not coding hours.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slide — keep it under ninety seconds; the audience cares about the mission, not the plumbing. Walk left to right once, point at the Protocol bar as a real gate, and then land on the governance band: we deliberately haven't rushed to a public URL because the corpus and personas require institutional validation first. That framing turns a limitation into a posture of respect.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slide. Two columns — Phase 1 (working today, green) and Phase 2 (next, gold). Conferences reward maturity, and maturity is showing the seam. Do not describe the build timeline; describe the roadmap. Then move to the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asks + close. Be concrete: cultural bodies → archival corpora and validation; tech partners → compute and deployment for a hosted pilot; academic partners → co-authorship on the prosody research. Then stop, breathe, and read the reverence line as the final words of the talk. Built with reverence for Emirati Nabati tradition.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720000">
            <a:off x="8686800" y="-457200"/>
            <a:ext cx="3931920" cy="3657600"/>
          </a:xfrm>
          <a:prstGeom prst="rect">
            <a:avLst/>
          </a:prstGeom>
          <a:solidFill>
            <a:srgbClr val="E8D9A8"/>
          </a:solidFill>
          <a:ln w="12700">
            <a:solidFill>
              <a:srgbClr val="FDF9F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548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821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۞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1188720"/>
            <a:ext cx="9445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88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EMIRATI NABATI POETRY · MULTI-AGENT SYSTEM ●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000" dirty="0">
                <a:solidFill>
                  <a:srgbClr val="2C1F1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مجلس القصيد الإماراتي - متعدد الوكلاء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8B2A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Emirati Multi-Agentic Poetic Majlis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114800" y="3749040"/>
            <a:ext cx="18150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29884" y="3639312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21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۞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59068" y="3749040"/>
            <a:ext cx="18150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4023360"/>
            <a:ext cx="94457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4A38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multi-agent council that critiques Nabati poetry —</a:t>
            </a:r>
            <a:endParaRPr lang="en-US" sz="18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4A38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without ever speaking in a deceased master's voice.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507492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8B2A24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مجلس وكلاء يُقيِّم القصيد النبطي — دون أن يتقمّص صوت شاعر راحل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5943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Asma Aljneibi  ·  أسماء الجنيبي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199632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Abu Dhabi Government Employee  ·  Master's Student, MBZUAI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88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THE CAUSE WE CHAMPION · القضية التي نتبنّاها 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One of the oldest living oral traditions in the Gulf —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and it is at risk of falling silent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627632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8B2A24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من أقدم التقاليد الشفهيّة الحيّة في الخليج — وهو مهدَّدٌ بالصمت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29200" y="2176272"/>
            <a:ext cx="9006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29884" y="2066544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21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۞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9068" y="2176272"/>
            <a:ext cx="9006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" y="2423160"/>
            <a:ext cx="356616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E8D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" y="2423160"/>
            <a:ext cx="73152" cy="3154680"/>
          </a:xfrm>
          <a:prstGeom prst="rect">
            <a:avLst/>
          </a:prstGeom>
          <a:solidFill>
            <a:srgbClr val="8B2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8076" y="2587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2A24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✦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" y="2880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An oral tradition is fragile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8B2A24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التقليد الشفهي هشّ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" y="3886200"/>
            <a:ext cx="3017520" cy="0"/>
          </a:xfrm>
          <a:prstGeom prst="line">
            <a:avLst/>
          </a:prstGeom>
          <a:noFill/>
          <a:ln w="6350">
            <a:solidFill>
              <a:srgbClr val="E8D9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" y="399592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Nabati poetry lives in voices and majālis, not archives. Each master who passes takes unrecorded verse with them.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3796" y="4892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القصيد النبطي يعيش في الأصوات والمجالس لا في الأرشيف؛ وكلّ شاعرٍ يرحل يأخذ معه أبياتاً لم تُدوَّن.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11396" y="2423160"/>
            <a:ext cx="356616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E8D9A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11396" y="2423160"/>
            <a:ext cx="73152" cy="3154680"/>
          </a:xfrm>
          <a:prstGeom prst="rect">
            <a:avLst/>
          </a:prstGeom>
          <a:solidFill>
            <a:srgbClr val="A88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9996" y="2587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821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✦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85716" y="2880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Younger generations are drifting away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85716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A8821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الأجيال الجديدة تبتعد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85716" y="3886200"/>
            <a:ext cx="3017520" cy="0"/>
          </a:xfrm>
          <a:prstGeom prst="line">
            <a:avLst/>
          </a:prstGeom>
          <a:noFill/>
          <a:ln w="6350">
            <a:solidFill>
              <a:srgbClr val="E8D9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5716" y="399592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meters, diction, and depth of authentic Nabati feel out of reach to many young readers today.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85716" y="4892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انحسار حضور القصيد الأصيل، ومفرداتٌ باتت غريبة على الأجيال الجديدة.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43316" y="2423160"/>
            <a:ext cx="3566160" cy="315468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9525">
            <a:solidFill>
              <a:srgbClr val="E8D9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43316" y="2423160"/>
            <a:ext cx="73152" cy="3154680"/>
          </a:xfrm>
          <a:prstGeom prst="rect">
            <a:avLst/>
          </a:prstGeom>
          <a:solidFill>
            <a:srgbClr val="5B6B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1916" y="2587752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B6B4D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✦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517636" y="2880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Generic AI makes it worse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517636" y="3474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5B6B4D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الذكاء الاصطناعي العام قاصر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517636" y="3886200"/>
            <a:ext cx="3017520" cy="0"/>
          </a:xfrm>
          <a:prstGeom prst="line">
            <a:avLst/>
          </a:prstGeom>
          <a:noFill/>
          <a:ln w="6350">
            <a:solidFill>
              <a:srgbClr val="E8D9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17636" y="3995928"/>
            <a:ext cx="3108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LLMs hallucinate meters, conflate Nabati wazn with classical buḥūr, and miss the cultural context entirely.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517636" y="4892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5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تخلط النماذج اللغوية العامّة بين الوزن النبطي وبحور الفصحى، وتغفل السياق الثقافي.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solidFill>
            <a:srgbClr val="6E21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DF9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Our mission: keep this tradition heard — by listening, weighing, and teaching. Never by replacing the poet.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Asma Aljneibi · Abu Dhabi Government Employee + Master's Student (MBZUAI)  ·  مدعوم بالذكاء الاصطناعي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88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THE COUNCIL · مجلس النقّاد 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Three Critics speaking from three schools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8B2A24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ثلاثةُ نقّاد يتكلّمون عن ثلاث مدارسَ شعريّة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1874520"/>
            <a:ext cx="9006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29884" y="1764792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21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۞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9068" y="1874520"/>
            <a:ext cx="9006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" y="219456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05356" y="2377440"/>
            <a:ext cx="914400" cy="914400"/>
          </a:xfrm>
          <a:prstGeom prst="ellipse">
            <a:avLst/>
          </a:prstGeom>
          <a:solidFill>
            <a:srgbClr val="5D4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5356" y="2487168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❖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62356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2C1F1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الماجدي بن ظاهر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D403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Al-Mājidī bin Ẓāhir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62356" y="4251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1560s–1630s · Ras Al Khaimah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2356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Father of Emirati Nabati Poetry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5236" y="4846320"/>
            <a:ext cx="2834640" cy="0"/>
          </a:xfrm>
          <a:prstGeom prst="line">
            <a:avLst/>
          </a:prstGeom>
          <a:noFill/>
          <a:ln w="7620">
            <a:solidFill>
              <a:srgbClr val="5D40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2356" y="4937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5D40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62356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1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Wazn · Qāfiyah · Bedouin diction · Moral clarity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2356" y="5349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الوزن · القافية · المعجم البدوي · الوضوح الأخلاقي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311396" y="219456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7E2C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37276" y="2377440"/>
            <a:ext cx="914400" cy="914400"/>
          </a:xfrm>
          <a:prstGeom prst="ellipse">
            <a:avLst/>
          </a:prstGeom>
          <a:solidFill>
            <a:srgbClr val="7E2C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37276" y="2487168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❀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494276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2C1F1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عوشة بنت خليفة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94276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E2C2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Ousha bint Khalifa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494276" y="4251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1920–2018 · Al Ain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94276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Fatat Al-Arab — The Arabian Maiden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77156" y="4846320"/>
            <a:ext cx="2834640" cy="0"/>
          </a:xfrm>
          <a:prstGeom prst="line">
            <a:avLst/>
          </a:prstGeom>
          <a:noFill/>
          <a:ln w="7620">
            <a:solidFill>
              <a:srgbClr val="7E2C2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4276" y="4937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7E2C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494276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1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Truth of feeling · Economy of image · Intimate register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494276" y="5349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صدق الشعور · اقتصاد الصورة · سجلٌّ حميم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243316" y="2194560"/>
            <a:ext cx="3566160" cy="338328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69196" y="2377440"/>
            <a:ext cx="914400" cy="91440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69196" y="2487168"/>
            <a:ext cx="914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✦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8426196" y="34290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dirty="0">
                <a:solidFill>
                  <a:srgbClr val="2C1F1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الشيخ زايد بن سلطان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426196" y="3886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Sheikh Zayed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426196" y="42519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1918–2004 · Al Ain &amp; Abu Dhabi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426196" y="44805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 Father of the UAE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609076" y="4846320"/>
            <a:ext cx="2834640" cy="0"/>
          </a:xfrm>
          <a:prstGeom prst="line">
            <a:avLst/>
          </a:prstGeom>
          <a:noFill/>
          <a:ln w="7620">
            <a:solidFill>
              <a:srgbClr val="1B5E2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26196" y="493776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0" kern="0" dirty="0">
                <a:solidFill>
                  <a:srgbClr val="1B5E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426196" y="5120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1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Steadfastness · Cohesion · Bond with the land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426196" y="5349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الرسوخ · اللُّحمة · الصِّلة بالأرض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solidFill>
            <a:srgbClr val="2C1F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57607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DF9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Critics speak from the schools — never as the masters themselves.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Asma Aljneibi · Abu Dhabi Government Employee + Master's Student (MBZUAI)  ·  مدعوم بالذكاء الاصطناعي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88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THE LIVE DEBATE · المناظرة الحيّة 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Watch a real poem meet the Majlis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8B2A24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قصيدةٌ حقيقية تدخل المجلس — وثلاثة أصواتٍ نقديّة تتداول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103120" y="1691640"/>
            <a:ext cx="798271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A88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78308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2C1F1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أنا لو اوزّع على الناس ابتساماتي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0" y="2240280"/>
            <a:ext cx="7616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38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“I don't distribute my smiles to people / O you with dead feelings, what can revive them?”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2606040"/>
            <a:ext cx="7616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Mohammed bin Al Theeb · Fakhr · audio-aligned corpus, full provenance on file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3090672"/>
            <a:ext cx="0" cy="292608"/>
          </a:xfrm>
          <a:prstGeom prst="line">
            <a:avLst/>
          </a:prstGeom>
          <a:noFill/>
          <a:ln w="12700">
            <a:solidFill>
              <a:srgbClr val="A8821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94476" y="3090672"/>
            <a:ext cx="0" cy="292608"/>
          </a:xfrm>
          <a:prstGeom prst="line">
            <a:avLst/>
          </a:prstGeom>
          <a:noFill/>
          <a:ln w="12700">
            <a:solidFill>
              <a:srgbClr val="A8821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445752" y="3090672"/>
            <a:ext cx="0" cy="292608"/>
          </a:xfrm>
          <a:prstGeom prst="line">
            <a:avLst/>
          </a:prstGeom>
          <a:noFill/>
          <a:ln w="12700">
            <a:solidFill>
              <a:srgbClr val="A8821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79476" y="3456432"/>
            <a:ext cx="35661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5D40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9476" y="3456432"/>
            <a:ext cx="3566160" cy="384048"/>
          </a:xfrm>
          <a:prstGeom prst="rect">
            <a:avLst/>
          </a:prstGeom>
          <a:solidFill>
            <a:srgbClr val="5D40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9476" y="34564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MĀJIDĪ VOICE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2356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5D4037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صوت المدرسة الماجديّة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" y="4206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Measures the wazn, weighs the rhyme letter, tests every word against the Bedouin register.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36676" y="4937760"/>
            <a:ext cx="2651760" cy="0"/>
          </a:xfrm>
          <a:prstGeom prst="line">
            <a:avLst/>
          </a:prstGeom>
          <a:noFill/>
          <a:ln w="6350">
            <a:solidFill>
              <a:srgbClr val="5D40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" y="501091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“The defiance is licit — but does the diction earn its desert lineage?”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11396" y="3456432"/>
            <a:ext cx="35661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7E2C2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11396" y="3456432"/>
            <a:ext cx="3566160" cy="384048"/>
          </a:xfrm>
          <a:prstGeom prst="rect">
            <a:avLst/>
          </a:prstGeom>
          <a:solidFill>
            <a:srgbClr val="7E2C2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1396" y="34564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OUSHA VOICE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94276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7E2C2C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صوت مدرسة عوشة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39996" y="4206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Asks whether the feeling is earned — is “dead feelings” a true image, or decoration?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68596" y="4937760"/>
            <a:ext cx="2651760" cy="0"/>
          </a:xfrm>
          <a:prstGeom prst="line">
            <a:avLst/>
          </a:prstGeom>
          <a:noFill/>
          <a:ln w="6350">
            <a:solidFill>
              <a:srgbClr val="7E2C2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39996" y="501091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“Pride is easy. Show me the wound the pride is guarding.”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43316" y="3456432"/>
            <a:ext cx="356616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5875">
            <a:solidFill>
              <a:srgbClr val="1B5E2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43316" y="3456432"/>
            <a:ext cx="3566160" cy="384048"/>
          </a:xfrm>
          <a:prstGeom prst="rect">
            <a:avLst/>
          </a:prstGeom>
          <a:solidFill>
            <a:srgbClr val="1B5E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43316" y="34564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ZAYED VOICE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26196" y="3913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صوت مدرسة زايد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71916" y="420624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Listens for steadfastness and cohesion — does the defiance bind the poet to his people?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00516" y="4937760"/>
            <a:ext cx="2651760" cy="0"/>
          </a:xfrm>
          <a:prstGeom prst="line">
            <a:avLst/>
          </a:prstGeom>
          <a:noFill/>
          <a:ln w="6350">
            <a:solidFill>
              <a:srgbClr val="1B5E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71916" y="5010912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“A proud bayt — but pride that stands alone serves no majlis.”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5687568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Critics hear each other: each may build on — or temper — the reading before it. A deliberation, not three monologues.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solidFill>
            <a:srgbClr val="6E21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9893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DF9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This is the experience. Everything else is infrastructure.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Asma Aljneibi · Abu Dhabi Government Employee + Master's Student (MBZUAI)  ·  مدعوم بالذكاء الاصطناعي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F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88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THE CURATOR &amp; CRITIC PROTOCOL · ميثاق الناقد والقَيِّم 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DF9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Our Critics speak about the masters.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dirty="0">
                <a:solidFill>
                  <a:srgbClr val="FDF9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Never as them.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9659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D2B373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نقّادنا يتحدّثون عن الشعراء — لا بألسنتهم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3A2B1A"/>
          </a:solidFill>
          <a:ln w="15875">
            <a:solidFill>
              <a:srgbClr val="8B2A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743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2B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✗  WHAT PERSONA AI DOES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A24"/>
                </a:solidFill>
              </a:rPr>
              <a:t>✗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317296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F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“Becomes” the historical figure and speaks in first person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A24"/>
                </a:solidFill>
              </a:rPr>
              <a:t>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395020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F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Invents words the person never said — with their name on 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2A24"/>
                </a:solidFill>
              </a:rPr>
              <a:t>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472744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F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sources, no provenance, no accountability to the family or the tradition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336792" y="2606040"/>
            <a:ext cx="5212080" cy="3017520"/>
          </a:xfrm>
          <a:prstGeom prst="roundRect">
            <a:avLst>
              <a:gd name="adj" fmla="val 1818"/>
            </a:avLst>
          </a:prstGeom>
          <a:solidFill>
            <a:srgbClr val="243321"/>
          </a:solidFill>
          <a:ln w="15875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6792" y="2743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2B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✓  WHAT THE MAJLIS DOES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11112" y="3200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B068"/>
                </a:solidFill>
              </a:rPr>
              <a:t>✓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976872" y="317296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F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Speaks in third person, from each school's documented principles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11112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B068"/>
                </a:solidFill>
              </a:rPr>
              <a:t>✓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76872" y="395020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F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Quotes only attested verse — and cites where every line comes from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11112" y="4754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B068"/>
                </a:solidFill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76872" y="4727448"/>
            <a:ext cx="4297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DF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to be defensible to the families and institutions that hold these legacies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58978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2B37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deceased master's voice belongs to them, their family, and the tradition — not to a model.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D2B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Asma Aljneibi · Abu Dhabi Government Employee + Master's Student (MBZUAI)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88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THE CURATOR &amp; CRITIC PROTOCOL · ميثاق الناقد والقَيِّم 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745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8B2A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It will never write a fake poem.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dirty="0">
                <a:solidFill>
                  <a:srgbClr val="2C1F1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لا ابتكار للأبيات تحت أيّ ظرف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94457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attested verses don't exist, the system says so — out loud.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verse is ever generated and passed off as a master's. Not as a fallback, not as a demo, not once.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0" y="2926080"/>
            <a:ext cx="9006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29884" y="2816352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21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۞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59068" y="2926080"/>
            <a:ext cx="9006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" y="320040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A882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882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Traceable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9476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قابلٌ للتعقّب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6676" y="4160520"/>
            <a:ext cx="2651760" cy="0"/>
          </a:xfrm>
          <a:prstGeom prst="line">
            <a:avLst/>
          </a:prstGeom>
          <a:noFill/>
          <a:ln w="6350">
            <a:solidFill>
              <a:srgbClr val="A882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" y="42519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quoted verse carries its source: manuscript, folio, retrieval date — all visible.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11396" y="320040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8B2A2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11396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2A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Labelled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311396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مُعلَّم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68596" y="4160520"/>
            <a:ext cx="2651760" cy="0"/>
          </a:xfrm>
          <a:prstGeom prst="line">
            <a:avLst/>
          </a:prstGeom>
          <a:noFill/>
          <a:ln w="6350">
            <a:solidFill>
              <a:srgbClr val="8B2A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5716" y="42519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AI output is marked “Inspired by [Poet] — AI Assisted.” Always visible, never hidden.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43316" y="3200400"/>
            <a:ext cx="356616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5B6B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43316" y="3383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4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Private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43316" y="376732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خصوصيّة محفوظة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700516" y="4160520"/>
            <a:ext cx="2651760" cy="0"/>
          </a:xfrm>
          <a:prstGeom prst="line">
            <a:avLst/>
          </a:prstGeom>
          <a:noFill/>
          <a:ln w="6350">
            <a:solidFill>
              <a:srgbClr val="5B6B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17636" y="42519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submissions stay private. The system never trains on a poet's unpublished work.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5577840"/>
            <a:ext cx="11274552" cy="502920"/>
          </a:xfrm>
          <a:prstGeom prst="rect">
            <a:avLst/>
          </a:prstGeom>
          <a:solidFill>
            <a:srgbClr val="2C1F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557784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DF9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If a verse appears in the Majlis, it existed before the Majlis.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Asma Aljneibi · Abu Dhabi Government Employee + Master's Student (MBZUAI)  ·  مدعوم بالذكاء الاصطناعي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88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THE CORPUS · المدوّنة 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corpus built by hand, verse by verse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61872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8B2A24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مدوّنةٌ بُنيت يداً بيد — بيتاً بيتاً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96230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74520"/>
            <a:ext cx="196230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2A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verses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2578608"/>
            <a:ext cx="1962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بيتاً منتقى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5262" y="1828800"/>
            <a:ext cx="196230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85262" y="1874520"/>
            <a:ext cx="196230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2A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785262" y="2377440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Khaleeji masters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85262" y="2578608"/>
            <a:ext cx="1962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شعراء خليجيون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113325" y="1828800"/>
            <a:ext cx="196230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13325" y="1874520"/>
            <a:ext cx="196230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2A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113325" y="2377440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DCT-attested bayts (Ousha)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113325" y="2578608"/>
            <a:ext cx="1962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بيتاً موثّقاً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41387" y="1828800"/>
            <a:ext cx="196230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41387" y="1874520"/>
            <a:ext cx="196230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2A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3,340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441387" y="2377440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audio-aligned clips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441387" y="2578608"/>
            <a:ext cx="1962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مقطعاً صوتيّاً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769450" y="1828800"/>
            <a:ext cx="196230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8D9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69450" y="1874520"/>
            <a:ext cx="196230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2A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20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769450" y="2377440"/>
            <a:ext cx="196230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 entries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769450" y="2578608"/>
            <a:ext cx="196230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مدخلاً معجميّاً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017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8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WAS MADE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9476" y="333756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8D9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9476" y="3337560"/>
            <a:ext cx="73152" cy="2103120"/>
          </a:xfrm>
          <a:prstGeom prst="rect">
            <a:avLst/>
          </a:prstGeom>
          <a:solidFill>
            <a:srgbClr val="A88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" y="35204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Curated and translated by hand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53796" y="4160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of the 80 verses was selected, transcribed, translated, and tagged for genre, emotion, and imagery — manually, not scraped.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11396" y="333756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8D9A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11396" y="3337560"/>
            <a:ext cx="73152" cy="2103120"/>
          </a:xfrm>
          <a:prstGeom prst="rect">
            <a:avLst/>
          </a:prstGeom>
          <a:solidFill>
            <a:srgbClr val="A88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5716" y="35204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Provenance recorded per verse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85716" y="4160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verse carries its source, audio alignment, and attribution chain. The Ousha corpus is verified against DCT publications.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43316" y="333756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9525">
            <a:solidFill>
              <a:srgbClr val="E8D9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43316" y="3337560"/>
            <a:ext cx="73152" cy="2103120"/>
          </a:xfrm>
          <a:prstGeom prst="rect">
            <a:avLst/>
          </a:prstGeom>
          <a:solidFill>
            <a:srgbClr val="A88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17636" y="352044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Shaped with heritage experts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517636" y="4160520"/>
            <a:ext cx="3108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Critic personas and corpus choices were shaped through conversations with heritage specialists and practitioners of the tradition.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solidFill>
            <a:srgbClr val="6E21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DF9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curation is the contribution. The code exists to serve it.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Asma Aljneibi · Abu Dhabi Government Employee + Master's Student (MBZUAI)  ·  مدعوم بالذكاء الاصطناعي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88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HOW THE MAJLIS WORKS · هندسة النظام 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machinery — briefly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8B2A24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هندسة النظام — باختصار، في خدمة الرسالة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502920"/>
          </a:xfrm>
          <a:prstGeom prst="roundRect">
            <a:avLst>
              <a:gd name="adj" fmla="val 9091"/>
            </a:avLst>
          </a:prstGeom>
          <a:solidFill>
            <a:srgbClr val="6E21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DF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⚖  CURATOR &amp; CRITIC PROTOCOL  ·  every output passes this gate  ·  ميثاق الناقد والقَيِّم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9496" y="26060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A8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09344" y="2441448"/>
            <a:ext cx="329184" cy="329184"/>
          </a:xfrm>
          <a:prstGeom prst="ellipse">
            <a:avLst/>
          </a:prstGeom>
          <a:solidFill>
            <a:srgbClr val="A88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9344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A882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9496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الرافد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Verse · Voice (Phase 2) · Image (Phase 2)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54096" y="3182112"/>
            <a:ext cx="320040" cy="219456"/>
          </a:xfrm>
          <a:prstGeom prst="rightTriangle">
            <a:avLst/>
          </a:prstGeom>
          <a:solidFill>
            <a:srgbClr val="A88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19856" y="26060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5B6B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9704" y="2441448"/>
            <a:ext cx="329184" cy="329184"/>
          </a:xfrm>
          <a:prstGeom prst="ellipse">
            <a:avLst/>
          </a:prstGeom>
          <a:solidFill>
            <a:srgbClr val="5B6B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9704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19856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5B6B4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CONVENER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19856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الموجِّه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57016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Routes the verse to the right Critic(s)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34456" y="3182112"/>
            <a:ext cx="320040" cy="219456"/>
          </a:xfrm>
          <a:prstGeom prst="rightTriangle">
            <a:avLst/>
          </a:prstGeom>
          <a:solidFill>
            <a:srgbClr val="A88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0216" y="26060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8B2A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0064" y="2441448"/>
            <a:ext cx="329184" cy="329184"/>
          </a:xfrm>
          <a:prstGeom prst="ellipse">
            <a:avLst/>
          </a:prstGeom>
          <a:solidFill>
            <a:srgbClr val="8B2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0064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0216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8B2A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COUNCIL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0216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المجلس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37376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Critics deliberate &amp; speak in turn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14816" y="3182112"/>
            <a:ext cx="320040" cy="219456"/>
          </a:xfrm>
          <a:prstGeom prst="rightTriangle">
            <a:avLst/>
          </a:prstGeom>
          <a:solidFill>
            <a:srgbClr val="A88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0576" y="2606040"/>
            <a:ext cx="2468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50424" y="2441448"/>
            <a:ext cx="329184" cy="329184"/>
          </a:xfrm>
          <a:prstGeom prst="ellipse">
            <a:avLst/>
          </a:prstGeom>
          <a:solidFill>
            <a:srgbClr val="1B5E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50424" y="24414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180576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B5E2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SYNTHESIS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180576" y="3154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الخلاصة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317736" y="3474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Verdict + qāfiyah analysis + attribution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" y="4297680"/>
            <a:ext cx="10908792" cy="914400"/>
          </a:xfrm>
          <a:prstGeom prst="roundRect">
            <a:avLst>
              <a:gd name="adj" fmla="val 6000"/>
            </a:avLst>
          </a:prstGeom>
          <a:solidFill>
            <a:srgbClr val="F5EBD3"/>
          </a:solidFill>
          <a:ln w="12700">
            <a:solidFill>
              <a:srgbClr val="A8821F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822960" y="4370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21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📜  LIVING DICTIONARY  ·  المعجم الحيّ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22960" y="4690872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 entries · Meter &amp; rhyme tags · Provenance graph · Community contributions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22960" y="4937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00" dirty="0">
                <a:solidFill>
                  <a:srgbClr val="4A3825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مدخلات موثَّقة · أوزان وقوافٍ · سلسلة الإسناد · مساهمات مجتمعيّة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73936" y="3977640"/>
            <a:ext cx="0" cy="320040"/>
          </a:xfrm>
          <a:prstGeom prst="line">
            <a:avLst/>
          </a:prstGeom>
          <a:noFill/>
          <a:ln w="6350">
            <a:solidFill>
              <a:srgbClr val="A8821F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654296" y="3977640"/>
            <a:ext cx="0" cy="320040"/>
          </a:xfrm>
          <a:prstGeom prst="line">
            <a:avLst/>
          </a:prstGeom>
          <a:noFill/>
          <a:ln w="6350">
            <a:solidFill>
              <a:srgbClr val="A8821F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7534656" y="3977640"/>
            <a:ext cx="0" cy="320040"/>
          </a:xfrm>
          <a:prstGeom prst="line">
            <a:avLst/>
          </a:prstGeom>
          <a:noFill/>
          <a:ln w="6350">
            <a:solidFill>
              <a:srgbClr val="A8821F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0415016" y="3977640"/>
            <a:ext cx="0" cy="320040"/>
          </a:xfrm>
          <a:prstGeom prst="line">
            <a:avLst/>
          </a:prstGeom>
          <a:noFill/>
          <a:ln w="6350">
            <a:solidFill>
              <a:srgbClr val="A8821F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40080" y="5440680"/>
            <a:ext cx="10908792" cy="777240"/>
          </a:xfrm>
          <a:prstGeom prst="roundRect">
            <a:avLst>
              <a:gd name="adj" fmla="val 7059"/>
            </a:avLst>
          </a:prstGeom>
          <a:solidFill>
            <a:srgbClr val="5B6B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5513832"/>
            <a:ext cx="10515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FDF9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GOVERNANCE · حوكمة مسؤولة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22960" y="5742432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DF9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We deliberately didn't rush to a public URL — the corpus and Critic personas require institutional validation first.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457200" y="635508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 ·  Next.js 14  ·  TypeScript  ·  SQLite  ·  OpenAI gpt-4o-mini  ·  AraPoemBERT t-SNE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57200" y="6537960"/>
            <a:ext cx="112745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Asma Aljneibi · Abu Dhabi Government Employee + Master's Student (MBZUAI)  ·  مدعوم بالذكاء الاصطناعي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88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PROTOTYPE STATUS · حالة النموذج 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Honest about Phase 1 vs Phase 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8B2A24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شفافيّة بين المرحلة الأولى والثانية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0" y="1783080"/>
            <a:ext cx="9006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29884" y="1673352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21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۞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9068" y="1783080"/>
            <a:ext cx="9006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05740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240">
            <a:solidFill>
              <a:srgbClr val="2C5F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57400"/>
            <a:ext cx="534924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DF9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1 — WHAT WORKS TODAY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26974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Three-Critic council with single-Critic convene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3099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309981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Debate UI · qāfiyah analysis · attribution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3502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35021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Poet/Scholar Gate · public/private/anonymous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3904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90448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Library of 80 verses · t-SNE projection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4306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430682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Verse detail pages with full poem reconstruction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47091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Ousha bint Khalifa: 3 DCT-attested poems · 61 bayts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" y="5111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97280" y="511149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1F1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Dictionary with provenance · 20 curated entries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63640" y="205740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5240">
            <a:solidFill>
              <a:srgbClr val="A8821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2057400"/>
            <a:ext cx="5349240" cy="457200"/>
          </a:xfrm>
          <a:prstGeom prst="rect">
            <a:avLst/>
          </a:prstGeom>
          <a:solidFill>
            <a:srgbClr val="A88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2057400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DF9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PHASE 2 — WHAT'S NEXT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2697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1F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12280" y="269748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intake — Khaleeji ASR fine-tuning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92240" y="30998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1F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12280" y="309981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Manuscript image OCR — handwritten Nabati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92240" y="35021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1F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812280" y="350215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Al-Mājidī corpus — Sheikha Al-Jabri 2019 diwan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92240" y="39044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1F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12280" y="390448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Sheikh Zayed corpus — pending attribution review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492240" y="4306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1F"/>
                </a:solidFill>
              </a:rPr>
              <a:t>→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12280" y="430682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Living-master inspirers (formal estate consent)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49224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1F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812280" y="47091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graph migration (SQLite → Neo4j)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92240" y="5111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821F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812280" y="511149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pilot with institutional partners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solidFill>
            <a:srgbClr val="6E211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594360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DF9F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Preserving our heritage  ·  teaching our generations  ·  shaping the future of our verse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1127455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Asma Aljneibi · Abu Dhabi Government Employee + Master's Student (MBZUAI)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A882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HOW YOU CAN HELP · كيف يكبر المجلس بكم 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2C1F11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Majlis grows with its partners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8B2A24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ثلاث دعوات للشراكة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029200" y="1874520"/>
            <a:ext cx="9006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29884" y="1764792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21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۞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9068" y="1874520"/>
            <a:ext cx="9006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" y="219456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8B2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9476" y="2194560"/>
            <a:ext cx="3566160" cy="457200"/>
          </a:xfrm>
          <a:prstGeom prst="rect">
            <a:avLst/>
          </a:prstGeom>
          <a:solidFill>
            <a:srgbClr val="8B2A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CULTURAL BODIES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62356" y="2761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8B2A24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الهيئات الثقافية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888236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B2A24"/>
                </a:solidFill>
              </a:rPr>
              <a:t>🏛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796" y="3566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to archival corpora — and institutional validation of the corpus and Critic personas.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11396" y="219456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5B6B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1396" y="2194560"/>
            <a:ext cx="3566160" cy="457200"/>
          </a:xfrm>
          <a:prstGeom prst="rect">
            <a:avLst/>
          </a:prstGeom>
          <a:solidFill>
            <a:srgbClr val="5B6B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1396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TECHNOLOGY PARTNERS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94276" y="2761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5B6B4D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شركاء التقنية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20156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5B6B4D"/>
                </a:solidFill>
              </a:rPr>
              <a:t>⚙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85716" y="3566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and deployment support for a hosted pilot serving cultural institutions.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43316" y="2194560"/>
            <a:ext cx="356616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5875">
            <a:solidFill>
              <a:srgbClr val="A8821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3316" y="2194560"/>
            <a:ext cx="3566160" cy="457200"/>
          </a:xfrm>
          <a:prstGeom prst="rect">
            <a:avLst/>
          </a:prstGeom>
          <a:solidFill>
            <a:srgbClr val="A8821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43316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ACADEMIC PARTNERS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426196" y="2761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A8821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الشركاء الأكاديميون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752076" y="310896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8821F"/>
                </a:solidFill>
              </a:rPr>
              <a:t>✎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517636" y="356616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382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Co-authorship on Nabati prosody research — meter detection, qāfiyah analysis, Khaleeji ASR.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0" y="4937760"/>
            <a:ext cx="18150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9884" y="4828032"/>
            <a:ext cx="329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821F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۞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59068" y="4937760"/>
            <a:ext cx="1815084" cy="0"/>
          </a:xfrm>
          <a:prstGeom prst="line">
            <a:avLst/>
          </a:prstGeom>
          <a:noFill/>
          <a:ln w="7620">
            <a:solidFill>
              <a:srgbClr val="A882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51663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B2A24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Built with reverence for Emirati Nabati tradition.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2C1F11"/>
                </a:solidFill>
                <a:latin typeface="Amiri" pitchFamily="34" charset="0"/>
                <a:ea typeface="Amiri" pitchFamily="34" charset="-122"/>
                <a:cs typeface="Amiri" pitchFamily="34" charset="-120"/>
              </a:rPr>
              <a:t>بُنيَ بإجلالٍ لتراث الشعر النبطي الإماراتي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57200" y="635508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7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Asma Aljneibi  ·  أسماء الجنيبي  ·  asljneibi@scad.gov.ae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Emirati Multi-Agentic Poetic Majlis</dc:title>
  <dc:subject>PptxGenJS Presentation</dc:subject>
  <dc:creator>Asma Aljneibi</dc:creator>
  <cp:lastModifiedBy>Asma Aljneibi</cp:lastModifiedBy>
  <cp:revision>1</cp:revision>
  <dcterms:created xsi:type="dcterms:W3CDTF">2026-06-10T17:44:58Z</dcterms:created>
  <dcterms:modified xsi:type="dcterms:W3CDTF">2026-06-10T17:44:58Z</dcterms:modified>
</cp:coreProperties>
</file>